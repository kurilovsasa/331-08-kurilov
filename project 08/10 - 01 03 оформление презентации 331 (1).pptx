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CCF0"/>
    <a:srgbClr val="418AB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30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870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5485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0771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209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3115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9162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1843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1568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331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746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139295C-1C7B-4648-87F0-42E1ABBAE4B3}" type="datetimeFigureOut">
              <a:rPr lang="ru-RU" smtClean="0"/>
              <a:t>12.04.2025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A0B6AD2-AFCE-420E-9AAA-0FB5422D66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3417987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Курсовая работа</a:t>
            </a:r>
            <a:br>
              <a:rPr lang="ru-RU" dirty="0"/>
            </a:br>
            <a:br>
              <a:rPr lang="ru-RU" dirty="0"/>
            </a:br>
            <a:r>
              <a:rPr lang="ru-RU" b="1" dirty="0"/>
              <a:t>ТЕМА</a:t>
            </a:r>
            <a:r>
              <a:rPr lang="en-US" b="1" dirty="0"/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Приложение для изучения кулинарии</a:t>
            </a:r>
            <a:endParaRPr lang="ru-RU" b="1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CBF1417-9BD1-41FB-B001-214A78435DBC}"/>
              </a:ext>
            </a:extLst>
          </p:cNvPr>
          <p:cNvSpPr txBox="1">
            <a:spLocks/>
          </p:cNvSpPr>
          <p:nvPr/>
        </p:nvSpPr>
        <p:spPr>
          <a:xfrm>
            <a:off x="6095999" y="4600135"/>
            <a:ext cx="5949617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Руководитель:</a:t>
            </a:r>
          </a:p>
          <a:p>
            <a:pPr algn="l">
              <a:lnSpc>
                <a:spcPct val="150000"/>
              </a:lnSpc>
            </a:pPr>
            <a:endParaRPr lang="ru-RU" sz="2000" spc="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Преподаватель спец. Дисциплин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по специальности 09.02.07</a:t>
            </a: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Венедиктов Дмитрий Викторович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520369F-0405-4705-AEC0-6B1E04846B84}"/>
              </a:ext>
            </a:extLst>
          </p:cNvPr>
          <p:cNvSpPr txBox="1">
            <a:spLocks/>
          </p:cNvSpPr>
          <p:nvPr/>
        </p:nvSpPr>
        <p:spPr>
          <a:xfrm>
            <a:off x="146383" y="4600135"/>
            <a:ext cx="5949618" cy="2142560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118800" tIns="118800" rIns="118800" bIns="11880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Выполнил Студент группы 331с</a:t>
            </a:r>
            <a:endParaRPr lang="en-US" sz="2000" spc="0" dirty="0">
              <a:latin typeface="+mn-lt"/>
            </a:endParaRPr>
          </a:p>
          <a:p>
            <a:pPr algn="l">
              <a:lnSpc>
                <a:spcPct val="150000"/>
              </a:lnSpc>
            </a:pPr>
            <a:r>
              <a:rPr lang="ru-RU" sz="2000" spc="0" dirty="0">
                <a:latin typeface="+mn-lt"/>
              </a:rPr>
              <a:t>КУРИЛОВ а. с.</a:t>
            </a:r>
          </a:p>
        </p:txBody>
      </p:sp>
    </p:spTree>
    <p:extLst>
      <p:ext uri="{BB962C8B-B14F-4D97-AF65-F5344CB8AC3E}">
        <p14:creationId xmlns:p14="http://schemas.microsoft.com/office/powerpoint/2010/main" val="1325838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7500" advClick="0">
        <p15:prstTrans prst="curtains"/>
        <p:sndAc>
          <p:stSnd>
            <p:snd r:embed="rId2" name="Euthanasia-Ты-просто-чиловый-парень-_audiovk-_mp3cut.net_-—-копия.wav"/>
          </p:stSnd>
        </p:sndAc>
      </p:transition>
    </mc:Choice>
    <mc:Fallback xmlns="">
      <p:transition spd="slow" advClick="0">
        <p:fade/>
        <p:sndAc>
          <p:stSnd>
            <p:snd r:embed="rId4" name="Euthanasia-Ты-просто-чиловый-парень-_audiovk-_mp3cut.net_-—-копия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/>
              <a:t>Актуальность разрабатываемого мобильного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pc="0" dirty="0">
                <a:latin typeface="+mn-lt"/>
              </a:rPr>
              <a:t>Приложение пригодится для домохозяек и прочих личностей. </a:t>
            </a:r>
          </a:p>
        </p:txBody>
      </p:sp>
    </p:spTree>
    <p:extLst>
      <p:ext uri="{BB962C8B-B14F-4D97-AF65-F5344CB8AC3E}">
        <p14:creationId xmlns:p14="http://schemas.microsoft.com/office/powerpoint/2010/main" val="25283626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pc="0" dirty="0"/>
              <a:t>Цели и задачи курсовой работы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 Основные задачи курсовой работы включают разработку и реализацию следующих функций:</a:t>
            </a:r>
            <a:endParaRPr lang="ru-RU" sz="1400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Регистрация и авторизация пользователей: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Возможность создания учётной записи и входа в приложение.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Интеграция с социальными сетями для упрощённой регистрации.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База данных рецептов: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Создание и поддержка обширной базы данных рецептов с возможностью фильтрации по категориям (веганские, диетические, национальные кухни и т.д.).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Пошаговые инструкции и видеоуроки для каждого рецепта.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Персонализированные рекомендации: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Алгоритм рекомендаций, который анализирует предпочтения пользователя и предлагает подходящие рецепты.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Возможность добавлять рецепты в избранное и создавать списки покупок на основе выбранных блюд.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Сообщество пользователей: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Форум для общения и обмена опытом между пользователями.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Возможность задавать вопросы и получать советы от опытных кулинаров.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Интерактивные функции: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Таймеры и напоминания для контроля времени приготовления.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Интеграция с умными устройствами для удобства использования на кухне.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Офлайн-доступ: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ru-RU" sz="1400" u="none" strike="noStrik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Helvetica Neue"/>
              </a:rPr>
              <a:t>Возможность просматривать скачанные рецепты без подключения к интернету.</a:t>
            </a:r>
            <a:endParaRPr lang="ru-RU" sz="1400" u="none" strike="noStrike" dirty="0">
              <a:effectLst/>
              <a:latin typeface="Helvetica Neue"/>
              <a:cs typeface="Helvetica Neue"/>
            </a:endParaRP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211241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Программные средства для разработки мобильного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pc="0" dirty="0">
                <a:latin typeface="+mn-lt"/>
              </a:rPr>
              <a:t>Figma</a:t>
            </a:r>
          </a:p>
          <a:p>
            <a:pPr>
              <a:lnSpc>
                <a:spcPct val="100000"/>
              </a:lnSpc>
            </a:pPr>
            <a:r>
              <a:rPr lang="en-US" spc="0" dirty="0" err="1">
                <a:latin typeface="+mn-lt"/>
              </a:rPr>
              <a:t>Sqlite</a:t>
            </a:r>
            <a:endParaRPr lang="en-US" spc="0" dirty="0">
              <a:latin typeface="+mn-lt"/>
            </a:endParaRPr>
          </a:p>
          <a:p>
            <a:pPr>
              <a:lnSpc>
                <a:spcPct val="100000"/>
              </a:lnSpc>
            </a:pPr>
            <a:r>
              <a:rPr lang="en-US" spc="0" dirty="0">
                <a:latin typeface="+mn-lt"/>
              </a:rPr>
              <a:t>Kotlin</a:t>
            </a:r>
          </a:p>
          <a:p>
            <a:pPr>
              <a:lnSpc>
                <a:spcPct val="100000"/>
              </a:lnSpc>
            </a:pPr>
            <a:r>
              <a:rPr lang="en-US" spc="0" dirty="0">
                <a:latin typeface="+mn-lt"/>
              </a:rPr>
              <a:t>Java</a:t>
            </a: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2750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Среды для разработки мобильного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pc="0" dirty="0">
                <a:latin typeface="+mn-lt"/>
              </a:rPr>
              <a:t>Android studio</a:t>
            </a: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71450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Интерфейс мобильного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CF3E7A-009E-4E4F-B3B6-82887AC2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73" y="2208912"/>
            <a:ext cx="1276528" cy="20481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C0BF2E-84BD-49C2-9D02-302270749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268" y="2208912"/>
            <a:ext cx="2210108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295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Логика работы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400"/>
              </a:spcBef>
              <a:spcAft>
                <a:spcPts val="14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Приложение разделено на три основные вкладки: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AutoNum type="arabicPeriod"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Главная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 – отображает общий контент.</a:t>
            </a:r>
            <a:endParaRPr lang="ru-RU" sz="1800" dirty="0">
              <a:effectLst/>
              <a:latin typeface="Helvetica Neue"/>
              <a:ea typeface="SimSun" panose="02010600030101010101" pitchFamily="2" charset="-122"/>
              <a:cs typeface="Helvetica Neue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AutoNum type="arabicPeriod"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Места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 – список интересных мест.</a:t>
            </a:r>
            <a:endParaRPr lang="ru-RU" sz="1800" dirty="0">
              <a:effectLst/>
              <a:latin typeface="Helvetica Neue"/>
              <a:ea typeface="SimSun" panose="02010600030101010101" pitchFamily="2" charset="-122"/>
              <a:cs typeface="Helvetica Neue"/>
            </a:endParaRPr>
          </a:p>
          <a:p>
            <a:pPr marL="342900" lvl="0" indent="-342900" fontAlgn="base">
              <a:lnSpc>
                <a:spcPct val="107000"/>
              </a:lnSpc>
              <a:spcAft>
                <a:spcPts val="800"/>
              </a:spcAft>
              <a:buSzPts val="1400"/>
              <a:buFont typeface="Times New Roman" panose="02020603050405020304" pitchFamily="18" charset="0"/>
              <a:buAutoNum type="arabicPeriod"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Профиль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"/>
                <a:cs typeface="Helvetica Neue"/>
              </a:rPr>
              <a:t> – информация о пользователе.</a:t>
            </a:r>
            <a:endParaRPr lang="ru-RU" sz="1800" dirty="0">
              <a:effectLst/>
              <a:latin typeface="Helvetica Neue"/>
              <a:ea typeface="SimSun" panose="02010600030101010101" pitchFamily="2" charset="-122"/>
              <a:cs typeface="Helvetica Neue"/>
            </a:endParaRP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54744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Логика работы Подключаемой базы данных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44500" algn="just">
              <a:spcAft>
                <a:spcPts val="80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Используется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SQLiteOpenHelper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который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создаёт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CityGuide.db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444500" algn="just">
              <a:spcAft>
                <a:spcPts val="800"/>
              </a:spcAft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В методе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onCreate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() создаётся таблица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Users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, содержащая: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444500" algn="just"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id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Уникальный идентификатор пользователя.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444500" algn="just"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Имя пользователя.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444500" algn="just"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email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Уникальный 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email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.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444500" algn="just">
              <a:spcAft>
                <a:spcPts val="80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password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Пароль.</a:t>
            </a:r>
            <a:endParaRPr lang="ru-RU" sz="18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lang="ru-RU" spc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8828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91570-A256-4D1F-A84A-03396E6AB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11" y="92403"/>
            <a:ext cx="11881184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pc="0" dirty="0"/>
              <a:t>Возможное применение разработанного приложения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80CC4CF-FBCF-4B07-9929-C2964D1D7E18}"/>
              </a:ext>
            </a:extLst>
          </p:cNvPr>
          <p:cNvSpPr txBox="1">
            <a:spLocks/>
          </p:cNvSpPr>
          <p:nvPr/>
        </p:nvSpPr>
        <p:spPr>
          <a:xfrm>
            <a:off x="156411" y="1381787"/>
            <a:ext cx="11881184" cy="5383810"/>
          </a:xfrm>
          <a:prstGeom prst="rect">
            <a:avLst/>
          </a:prstGeom>
          <a:solidFill>
            <a:srgbClr val="FFFFFF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pc="0" dirty="0">
                <a:latin typeface="+mn-lt"/>
              </a:rPr>
              <a:t>Использование для домохозяек вместо кулинарных книг.</a:t>
            </a:r>
          </a:p>
        </p:txBody>
      </p:sp>
    </p:spTree>
    <p:extLst>
      <p:ext uri="{BB962C8B-B14F-4D97-AF65-F5344CB8AC3E}">
        <p14:creationId xmlns:p14="http://schemas.microsoft.com/office/powerpoint/2010/main" val="1022732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C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C8799B-6D1C-4B1E-B19D-F2A328058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83" y="940499"/>
            <a:ext cx="11903242" cy="5802196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ru-RU" dirty="0"/>
              <a:t>Ответы на вопросы комиссии</a:t>
            </a:r>
            <a:endParaRPr lang="ru-RU" b="1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CFA52D-E3FC-41CD-90D2-6F3F593890B8}"/>
              </a:ext>
            </a:extLst>
          </p:cNvPr>
          <p:cNvSpPr txBox="1">
            <a:spLocks/>
          </p:cNvSpPr>
          <p:nvPr/>
        </p:nvSpPr>
        <p:spPr>
          <a:xfrm>
            <a:off x="146384" y="115304"/>
            <a:ext cx="11903242" cy="612607"/>
          </a:xfrm>
          <a:prstGeom prst="rect">
            <a:avLst/>
          </a:prstGeom>
          <a:solidFill>
            <a:srgbClr val="FFFFFF"/>
          </a:solidFill>
          <a:ln w="38100" cap="sq">
            <a:solidFill>
              <a:srgbClr val="404040"/>
            </a:solidFill>
            <a:miter lim="800000"/>
          </a:ln>
        </p:spPr>
        <p:txBody>
          <a:bodyPr vert="horz" lIns="274320" tIns="182880" rIns="274320" bIns="182880" rtlCol="0" anchor="ctr" anchorCtr="1">
            <a:normAutofit fontScale="2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Санкт-петербургское государственное бюджетное профессиональное образовательное учреждение</a:t>
            </a:r>
          </a:p>
          <a:p>
            <a:pPr>
              <a:lnSpc>
                <a:spcPct val="120000"/>
              </a:lnSpc>
            </a:pPr>
            <a:endParaRPr lang="ru-RU" b="1" spc="0" dirty="0"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ru-RU" b="1" spc="0" dirty="0">
                <a:latin typeface="+mn-lt"/>
                <a:cs typeface="Arial" panose="020B0604020202020204" pitchFamily="34" charset="0"/>
              </a:rPr>
              <a:t>«Ижорский политехнический колледж»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D8A7F3A-CBA1-45AC-843B-C0D8F7C2B37C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86" y="1514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681F9A7-EB38-4E88-9F25-C7687863235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6099" y="153401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1702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TM03457475[[fn=Рамка]]</Template>
  <TotalTime>140</TotalTime>
  <Words>329</Words>
  <Application>Microsoft Office PowerPoint</Application>
  <PresentationFormat>Широкоэкранный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Corbel</vt:lpstr>
      <vt:lpstr>Gill Sans MT</vt:lpstr>
      <vt:lpstr>Helvetica Neue</vt:lpstr>
      <vt:lpstr>Times New Roman</vt:lpstr>
      <vt:lpstr>Посылка</vt:lpstr>
      <vt:lpstr>Курсовая работа  ТЕМА Приложение для изучения кулинарии</vt:lpstr>
      <vt:lpstr>Актуальность разрабатываемого мобильного приложения</vt:lpstr>
      <vt:lpstr>Цели и задачи курсовой работы</vt:lpstr>
      <vt:lpstr>Программные средства для разработки мобильного приложения</vt:lpstr>
      <vt:lpstr>Среды для разработки мобильного приложения</vt:lpstr>
      <vt:lpstr>Интерфейс мобильного приложения</vt:lpstr>
      <vt:lpstr>Логика работы приложения</vt:lpstr>
      <vt:lpstr>Логика работы Подключаемой базы данных</vt:lpstr>
      <vt:lpstr>Возможное применение разработанного приложения</vt:lpstr>
      <vt:lpstr>Ответы на вопросы комиссии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Teacher</dc:creator>
  <cp:lastModifiedBy>КуриловАС</cp:lastModifiedBy>
  <cp:revision>18</cp:revision>
  <dcterms:created xsi:type="dcterms:W3CDTF">2025-03-28T06:43:39Z</dcterms:created>
  <dcterms:modified xsi:type="dcterms:W3CDTF">2025-04-12T08:07:37Z</dcterms:modified>
</cp:coreProperties>
</file>